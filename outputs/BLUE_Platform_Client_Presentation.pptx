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6bbc605292943ce" /><Relationship Type="http://schemas.openxmlformats.org/officeDocument/2006/relationships/extended-properties" Target="/docProps/app.xml" Id="Rd0eb2d2dd510457f" /><Relationship Type="http://schemas.openxmlformats.org/officeDocument/2006/relationships/officeDocument" Target="/ppt/presentation.xml" Id="Rf05420145a8a4e3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4715f6328154293"/>
  </p:sldMasterIdLst>
  <p:notesMasterIdLst>
    <p:notesMasterId xmlns:r="http://schemas.openxmlformats.org/officeDocument/2006/relationships" r:id="R64fdb9c0a0464e10"/>
  </p:notesMasterIdLst>
  <p:sldIdLst>
    <p:sldId xmlns:r="http://schemas.openxmlformats.org/officeDocument/2006/relationships" id="256" r:id="Re6c16d1e03cf4bff"/>
    <p:sldId xmlns:r="http://schemas.openxmlformats.org/officeDocument/2006/relationships" id="257" r:id="R9d588d2e4b814897"/>
    <p:sldId xmlns:r="http://schemas.openxmlformats.org/officeDocument/2006/relationships" id="258" r:id="R296668070e7c4e91"/>
    <p:sldId xmlns:r="http://schemas.openxmlformats.org/officeDocument/2006/relationships" id="259" r:id="Rdc2b9fbcf7e74517"/>
    <p:sldId xmlns:r="http://schemas.openxmlformats.org/officeDocument/2006/relationships" id="260" r:id="R44b31e562fba4279"/>
    <p:sldId xmlns:r="http://schemas.openxmlformats.org/officeDocument/2006/relationships" id="261" r:id="R4cb68490ad824342"/>
    <p:sldId xmlns:r="http://schemas.openxmlformats.org/officeDocument/2006/relationships" id="262" r:id="R6db1550099bc4c19"/>
    <p:sldId xmlns:r="http://schemas.openxmlformats.org/officeDocument/2006/relationships" id="263" r:id="Rba66e1809cf7426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c91198ba4eb4480" /><Relationship Type="http://schemas.openxmlformats.org/officeDocument/2006/relationships/slideMaster" Target="/ppt/slideMasters/slideMaster1.xml" Id="R44715f6328154293" /><Relationship Type="http://schemas.openxmlformats.org/officeDocument/2006/relationships/notesMaster" Target="/ppt/notesMasters/notesMaster1.xml" Id="R64fdb9c0a0464e10" /><Relationship Type="http://schemas.openxmlformats.org/officeDocument/2006/relationships/presProps" Target="/ppt/presProps.xml" Id="Rded37189e76d4fa6" /><Relationship Type="http://schemas.openxmlformats.org/officeDocument/2006/relationships/tableStyles" Target="/ppt/tableStyles.xml" Id="R59080302e1134d99" /><Relationship Type="http://schemas.openxmlformats.org/officeDocument/2006/relationships/slide" Target="/ppt/slides/slide1.xml" Id="Re6c16d1e03cf4bff" /><Relationship Type="http://schemas.openxmlformats.org/officeDocument/2006/relationships/slide" Target="/ppt/slides/slide2.xml" Id="R9d588d2e4b814897" /><Relationship Type="http://schemas.openxmlformats.org/officeDocument/2006/relationships/slide" Target="/ppt/slides/slide3.xml" Id="R296668070e7c4e91" /><Relationship Type="http://schemas.openxmlformats.org/officeDocument/2006/relationships/slide" Target="/ppt/slides/slide4.xml" Id="Rdc2b9fbcf7e74517" /><Relationship Type="http://schemas.openxmlformats.org/officeDocument/2006/relationships/slide" Target="/ppt/slides/slide5.xml" Id="R44b31e562fba4279" /><Relationship Type="http://schemas.openxmlformats.org/officeDocument/2006/relationships/slide" Target="/ppt/slides/slide6.xml" Id="R4cb68490ad824342" /><Relationship Type="http://schemas.openxmlformats.org/officeDocument/2006/relationships/slide" Target="/ppt/slides/slide7.xml" Id="R6db1550099bc4c19" /><Relationship Type="http://schemas.openxmlformats.org/officeDocument/2006/relationships/slide" Target="/ppt/slides/slide8.xml" Id="Rba66e1809cf7426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49fa24654a44de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737b196201c4c2e" /><Relationship Type="http://schemas.openxmlformats.org/officeDocument/2006/relationships/notesMaster" Target="/ppt/notesMasters/notesMaster1.xml" Id="R870eb0938be84bf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609ba0bfc454895" /><Relationship Type="http://schemas.openxmlformats.org/officeDocument/2006/relationships/notesMaster" Target="/ppt/notesMasters/notesMaster1.xml" Id="Ra923b3e7ba774bd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36116530f154ce0" /><Relationship Type="http://schemas.openxmlformats.org/officeDocument/2006/relationships/notesMaster" Target="/ppt/notesMasters/notesMaster1.xml" Id="R075ec12a48a643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b9e12d875f64c73" /><Relationship Type="http://schemas.openxmlformats.org/officeDocument/2006/relationships/notesMaster" Target="/ppt/notesMasters/notesMaster1.xml" Id="R1ee3acb9f5474ad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2e39f4c3d484450" /><Relationship Type="http://schemas.openxmlformats.org/officeDocument/2006/relationships/notesMaster" Target="/ppt/notesMasters/notesMaster1.xml" Id="R0ef7862efcc7495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7a5fa7df18342a5" /><Relationship Type="http://schemas.openxmlformats.org/officeDocument/2006/relationships/notesMaster" Target="/ppt/notesMasters/notesMaster1.xml" Id="R3752fa44c39d46c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cfb5007ac0d4966" /><Relationship Type="http://schemas.openxmlformats.org/officeDocument/2006/relationships/notesMaster" Target="/ppt/notesMasters/notesMaster1.xml" Id="R694aa7b31e9245e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0f006eca644529" /><Relationship Type="http://schemas.openxmlformats.org/officeDocument/2006/relationships/notesMaster" Target="/ppt/notesMasters/notesMaster1.xml" Id="R8f5aba29782f4af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6063ee1182469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cbcf9af188d4494" /><Relationship Type="http://schemas.openxmlformats.org/officeDocument/2006/relationships/slideLayout" Target="/ppt/slideLayouts/slideLayout1.xml" Id="Rfc6920083915403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6920083915403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ec9487707845a9" /><Relationship Type="http://schemas.openxmlformats.org/officeDocument/2006/relationships/image" Target="/ppt/media/image.png" Id="R31bbd9eeeb5f4708" /><Relationship Type="http://schemas.openxmlformats.org/officeDocument/2006/relationships/notesSlide" Target="/ppt/notesSlides/notesSlide1.xml" Id="Rf0e6a6a6bf36450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4f8a6d4adc4b0c" /><Relationship Type="http://schemas.openxmlformats.org/officeDocument/2006/relationships/notesSlide" Target="/ppt/notesSlides/notesSlide2.xml" Id="R2f071b8da04b4a2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d059b0bcb044a4" /><Relationship Type="http://schemas.openxmlformats.org/officeDocument/2006/relationships/notesSlide" Target="/ppt/notesSlides/notesSlide3.xml" Id="R71e3bf2d7407485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fdd846689048b2" /><Relationship Type="http://schemas.openxmlformats.org/officeDocument/2006/relationships/notesSlide" Target="/ppt/notesSlides/notesSlide4.xml" Id="Rad077f3c31694dc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77ec5af81c4a03" /><Relationship Type="http://schemas.openxmlformats.org/officeDocument/2006/relationships/notesSlide" Target="/ppt/notesSlides/notesSlide5.xml" Id="Rd11279efd4bd411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e746c35c6a4e38" /><Relationship Type="http://schemas.openxmlformats.org/officeDocument/2006/relationships/image" Target="/ppt/media/image2.png" Id="Rfe9fab5dcaa44970" /><Relationship Type="http://schemas.openxmlformats.org/officeDocument/2006/relationships/notesSlide" Target="/ppt/notesSlides/notesSlide6.xml" Id="Rb51f604c005f4bc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09f7f33e624428" /><Relationship Type="http://schemas.openxmlformats.org/officeDocument/2006/relationships/notesSlide" Target="/ppt/notesSlides/notesSlide7.xml" Id="Ra3eeeb2e090a42a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1928ceb0034c49" /><Relationship Type="http://schemas.openxmlformats.org/officeDocument/2006/relationships/image" Target="/ppt/media/image3.png" Id="R1e087335c3d84555" /><Relationship Type="http://schemas.openxmlformats.org/officeDocument/2006/relationships/notesSlide" Target="/ppt/notesSlides/notesSlide8.xml" Id="R9b65155571d443d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EE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bbd9eeeb5f470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0B0D0C-BE7B-4D7C-887E-2F00D753D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A1A20E-DF5C-41E6-8EB2-648A48E4A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953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67E8F9"/>
          </a:solidFill>
          <a:ln xmlns:a="http://schemas.openxmlformats.org/drawingml/2006/main" w="0">
            <a:solidFill>
              <a:srgbClr val="67E8F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8C9106-0C04-4AA5-B26E-5E0E5A1DB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20617"/>
                </a:solidFill>
              </a:defRPr>
            </a:pPr>
            <a:r>
              <a:rPr sz="1950" b="1">
                <a:solidFill>
                  <a:srgbClr val="020617"/>
                </a:solidFill>
              </a:rPr>
              <a:t>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55C1DD-1D4A-422A-AE1C-5AC77D2FC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245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8CA6F6-BAFE-484F-A720-5FC92B30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81915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125" b="1">
                <a:solidFill>
                  <a:srgbClr val="FFFFFF"/>
                </a:solidFill>
              </a:defRPr>
            </a:pPr>
            <a:r>
              <a:rPr sz="4125" b="1">
                <a:solidFill>
                  <a:srgbClr val="FFFFFF"/>
                </a:solidFill>
              </a:rPr>
              <a:t>Blue Economy Livelihoods Unified Ecosystem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6DF1DC-B045-4C28-8B5B-9E3A7DC06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95700"/>
            <a:ext cx="723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0F2FE"/>
                </a:solidFill>
              </a:defRPr>
            </a:pPr>
            <a:r>
              <a:rPr sz="1800">
                <a:solidFill>
                  <a:srgbClr val="E0F2FE"/>
                </a:solidFill>
              </a:rPr>
              <a:t>A secure fisheries, BMU, compliance, reporting, and governance platform for counties, officers, NGOs, donors, and coastal communities.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8CAAAA-E4D9-453F-86FA-BB81EC4E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34290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5F3F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5985"/>
                </a:solidFill>
              </a:defRPr>
            </a:pPr>
            <a:r>
              <a:rPr sz="1200" b="1">
                <a:solidFill>
                  <a:srgbClr val="075985"/>
                </a:solidFill>
              </a:rPr>
              <a:t>Production software, not a paper workflow</a:t>
            </a:r>
          </a:p>
        </p:txBody>
      </p:sp>
    </p:spTree>
    <p:extLst>
      <p:ext uri="{BB962C8B-B14F-4D97-AF65-F5344CB8AC3E}">
        <p14:creationId xmlns:p14="http://schemas.microsoft.com/office/powerpoint/2010/main" val="8806104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1628E4-6151-42AA-8646-7FA1474E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91B2"/>
                </a:solidFill>
              </a:defRPr>
            </a:pPr>
            <a:r>
              <a:rPr sz="1125" b="1">
                <a:solidFill>
                  <a:srgbClr val="0891B2"/>
                </a:solidFill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DDF52F-0E03-46F8-A72A-DBE3576ED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8382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20617"/>
                </a:solidFill>
              </a:defRPr>
            </a:pPr>
            <a:r>
              <a:rPr sz="3000" b="1">
                <a:solidFill>
                  <a:srgbClr val="020617"/>
                </a:solidFill>
              </a:rPr>
              <a:t>Paper records slow down fisheries governance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AAE7E3-8E8B-49A2-A5E2-1F3D319F1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781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75569"/>
                </a:solidFill>
              </a:defRPr>
            </a:pPr>
            <a:r>
              <a:rPr sz="1500">
                <a:solidFill>
                  <a:srgbClr val="475569"/>
                </a:solidFill>
              </a:rPr>
              <a:t>BMUs and officers need one secure place to capture, verify, retrieve, and report operational data without repeated paperwork.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BF9675-AAE8-4146-959B-822EB6811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3190875" cy="2266950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76AF54-8E87-4D46-BBEF-6AB4CD4BD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4381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06B6D4"/>
          </a:solidFill>
          <a:ln xmlns:a="http://schemas.openxmlformats.org/drawingml/2006/main" w="0">
            <a:solidFill>
              <a:srgbClr val="06B6D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95E08A-10FC-4AF3-A940-40D149AE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0289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Scattered records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583158-8AD9-4F2E-9364-4EF58FE2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273367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75569"/>
                </a:solidFill>
              </a:defRPr>
            </a:pPr>
            <a:r>
              <a:rPr sz="1350">
                <a:solidFill>
                  <a:srgbClr val="475569"/>
                </a:solidFill>
              </a:rPr>
              <a:t>Membership, vessel, patrol, certificate, and payment details are difficult to search later.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3A1758-BB8C-4B9D-9317-EE2510F00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3190875" cy="2266950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E96726-8273-43BC-95AE-0A450E2C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048000"/>
            <a:ext cx="4381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0284C7"/>
          </a:solidFill>
          <a:ln xmlns:a="http://schemas.openxmlformats.org/drawingml/2006/main" w="0">
            <a:solidFill>
              <a:srgbClr val="0284C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DEC422-B00D-4A07-9E2A-31DEDC8F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0289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Slow decisions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F9CFB2-60A8-4A0A-97EA-A2D7FDE29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657600"/>
            <a:ext cx="273367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75569"/>
                </a:solidFill>
              </a:defRPr>
            </a:pPr>
            <a:r>
              <a:rPr sz="1350">
                <a:solidFill>
                  <a:srgbClr val="475569"/>
                </a:solidFill>
              </a:rPr>
              <a:t>County and national teams cannot easily see clean operational status across BMUs.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E780FB-B07B-4A51-9B07-8CC1D4905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19400"/>
            <a:ext cx="3190875" cy="2266950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D6C43F-2F49-4B50-89EF-656B2EA9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048000"/>
            <a:ext cx="4381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7582E3-9556-45D6-9ABE-9B2E18058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289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Weak traceability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842A19-B71C-4D74-B19A-10CFC4BC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657600"/>
            <a:ext cx="273367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75569"/>
                </a:solidFill>
              </a:defRPr>
            </a:pPr>
            <a:r>
              <a:rPr sz="1350">
                <a:solidFill>
                  <a:srgbClr val="475569"/>
                </a:solidFill>
              </a:rPr>
              <a:t>Manual approvals, inspections, and exports make accountability harder to prove.</a:t>
            </a:r>
          </a:p>
        </p:txBody>
      </p:sp>
    </p:spTree>
    <p:extLst>
      <p:ext uri="{BB962C8B-B14F-4D97-AF65-F5344CB8AC3E}">
        <p14:creationId xmlns:p14="http://schemas.microsoft.com/office/powerpoint/2010/main" val="16081272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0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913A1E-5970-4D7F-A5A2-CE87A066E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91B2"/>
                </a:solidFill>
              </a:defRPr>
            </a:pPr>
            <a:r>
              <a:rPr sz="1125" b="1">
                <a:solidFill>
                  <a:srgbClr val="0891B2"/>
                </a:solidFill>
              </a:rPr>
              <a:t>THE PLATFORM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3F00BC-99D4-4BC4-8ED4-A19BB8999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8382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20617"/>
                </a:solidFill>
              </a:defRPr>
            </a:pPr>
            <a:r>
              <a:rPr sz="3000" b="1">
                <a:solidFill>
                  <a:srgbClr val="020617"/>
                </a:solidFill>
              </a:rPr>
              <a:t>BLUE turns BMU operations into connected digital workflows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833AEE-F47F-44B0-BF86-9384C1E0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781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75569"/>
                </a:solidFill>
              </a:defRPr>
            </a:pPr>
            <a:r>
              <a:rPr sz="1500">
                <a:solidFill>
                  <a:srgbClr val="475569"/>
                </a:solidFill>
              </a:rPr>
              <a:t>The system organizes users, locations, records, documents, approvals, and reports around real role-based access.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9A2845-DA2E-494B-B326-04B0042D0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4953000" cy="3714750"/>
          </a:xfrm>
          <a:prstGeom xmlns:a="http://schemas.openxmlformats.org/drawingml/2006/main" prst="roundRect">
            <a:avLst>
              <a:gd name="adj" fmla="val 41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F3B04A-BF26-44C7-A911-D65D12584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0002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985"/>
          </a:solidFill>
          <a:ln xmlns:a="http://schemas.openxmlformats.org/drawingml/2006/main" w="0">
            <a:solidFill>
              <a:srgbClr val="07598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AEF366-E885-44D9-BC3B-9AC72B2EC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9050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D35BC4-BD89-4184-8DC5-D873AAC6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57450"/>
            <a:ext cx="15240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C489D8-C5D1-414E-AA82-C1ED158A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514600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Dashboard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45C5A5-52EF-44EC-A4D0-512FF8063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95600"/>
            <a:ext cx="15240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E7490"/>
          </a:solidFill>
          <a:ln xmlns:a="http://schemas.openxmlformats.org/drawingml/2006/main" w="0">
            <a:solidFill>
              <a:srgbClr val="0E749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DA45FB-4A5B-4909-BD4E-9D5FBDA55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952750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FFAFE"/>
                </a:solidFill>
              </a:defRPr>
            </a:pPr>
            <a:r>
              <a:rPr sz="1125" b="1">
                <a:solidFill>
                  <a:srgbClr val="CFFAFE"/>
                </a:solidFill>
              </a:rPr>
              <a:t>Members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45DE1B-67C7-4703-91C3-DC726724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333750"/>
            <a:ext cx="15240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E7490"/>
          </a:solidFill>
          <a:ln xmlns:a="http://schemas.openxmlformats.org/drawingml/2006/main" w="0">
            <a:solidFill>
              <a:srgbClr val="0E749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BAD6B4-31C8-4FBD-931C-73AEFF74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390900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FFAFE"/>
                </a:solidFill>
              </a:defRPr>
            </a:pPr>
            <a:r>
              <a:rPr sz="1125" b="1">
                <a:solidFill>
                  <a:srgbClr val="CFFAFE"/>
                </a:solidFill>
              </a:rPr>
              <a:t>Vessels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5C6762-A8B3-424B-A972-D6053FE71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771900"/>
            <a:ext cx="15240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E7490"/>
          </a:solidFill>
          <a:ln xmlns:a="http://schemas.openxmlformats.org/drawingml/2006/main" w="0">
            <a:solidFill>
              <a:srgbClr val="0E749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63CD37-0766-4176-BD35-0B27088F5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829050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FFAFE"/>
                </a:solidFill>
              </a:defRPr>
            </a:pPr>
            <a:r>
              <a:rPr sz="1125" b="1">
                <a:solidFill>
                  <a:srgbClr val="CFFAFE"/>
                </a:solidFill>
              </a:rPr>
              <a:t>Compliance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A4EB55-BF6F-4EC5-93DB-653B7D4B6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210050"/>
            <a:ext cx="15240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E7490"/>
          </a:solidFill>
          <a:ln xmlns:a="http://schemas.openxmlformats.org/drawingml/2006/main" w="0">
            <a:solidFill>
              <a:srgbClr val="0E749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102466-C47B-4FFD-98FF-805198C1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267200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FFAFE"/>
                </a:solidFill>
              </a:defRPr>
            </a:pPr>
            <a:r>
              <a:rPr sz="1125" b="1">
                <a:solidFill>
                  <a:srgbClr val="CFFAFE"/>
                </a:solidFill>
              </a:rPr>
              <a:t>Reports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E198D3-D45C-4A1C-A764-9A33712A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43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Operational workspace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F3313C-A8D3-4AA5-BB41-128EB5656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76500"/>
            <a:ext cx="1524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5D31BA-D4D2-4B1F-855F-22E7C818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638425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Profiles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81EA10-46A0-4E99-AEC3-236F848C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05125"/>
            <a:ext cx="1219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Structured records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AB1C1E-D4E4-4A7D-876B-C4796DC3C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476500"/>
            <a:ext cx="1524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7A3410-5DC7-4997-898F-BEF129406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638425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Certificates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F27A8B-B9A0-4034-9D7C-620544C88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05125"/>
            <a:ext cx="1219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Verification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803A62-1A31-4B40-8E9D-F678BEF3F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05200"/>
            <a:ext cx="1524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EDB9CE-469B-4BCD-B735-FBA116F6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667125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Patrols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E1F10A-FF24-46E2-B637-01BC923D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33825"/>
            <a:ext cx="1219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Compliance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AF8069-4068-4F55-9503-B82B8EBB4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505200"/>
            <a:ext cx="1524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733F85-9EAF-4C1A-BC3F-6250E464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3667125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Reports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A674DA-3FC1-41D0-90F4-5F23C3FC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3933825"/>
            <a:ext cx="1219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Export-ready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EEE875-ED5D-425E-96D6-A73863B6C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Core capabilities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E04FD7-54C9-41FD-8E4E-90EEAEA8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43815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5F3F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Access requests and approvals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8124A3-1864-40D8-BEF3-0AC42AB5B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29050"/>
            <a:ext cx="43815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5F3F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BMU setup and certificate verification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7D82FB8-8CAA-45FF-9ABE-9D6CD9A9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43815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5F3F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Member and vessel records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107775D-0AAC-46CA-B1A5-F7916EED5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3815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5F3F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Compliance and patrol form digitization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49E4C34-3B2D-44DC-86A0-DB1CA4F6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14950"/>
            <a:ext cx="43815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5F3F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Income, expenditure, receipts, and reports</a:t>
            </a:r>
          </a:p>
        </p:txBody>
      </p:sp>
    </p:spTree>
    <p:extLst>
      <p:ext uri="{BB962C8B-B14F-4D97-AF65-F5344CB8AC3E}">
        <p14:creationId xmlns:p14="http://schemas.microsoft.com/office/powerpoint/2010/main" val="7112779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FF7C8F-8ECD-4B39-AD03-BEEEFE0E6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91B2"/>
                </a:solidFill>
              </a:defRPr>
            </a:pPr>
            <a:r>
              <a:rPr sz="1125" b="1">
                <a:solidFill>
                  <a:srgbClr val="0891B2"/>
                </a:solidFill>
              </a:rPr>
              <a:t>ROLE-BASED ACCESS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8FAD9F-60B3-452E-9388-29C131D2F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8382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20617"/>
                </a:solidFill>
              </a:defRPr>
            </a:pPr>
            <a:r>
              <a:rPr sz="3000" b="1">
                <a:solidFill>
                  <a:srgbClr val="020617"/>
                </a:solidFill>
              </a:rPr>
              <a:t>Each user sees only the work they are allowed to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7F5C71-CE31-46FC-BE74-E8F959A3C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781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75569"/>
                </a:solidFill>
              </a:defRPr>
            </a:pPr>
            <a:r>
              <a:rPr sz="1500">
                <a:solidFill>
                  <a:srgbClr val="475569"/>
                </a:solidFill>
              </a:rPr>
              <a:t>Government, county, BMU, ranger, NGO, donor, and member access can be scoped by role and location.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9A6614-ECC8-40CE-A7FC-9589EEDB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667250" cy="80010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7C7F26-4818-4451-AB35-961EA6229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590800"/>
            <a:ext cx="4381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39A88C-4FF4-4BE2-880C-7465442C0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571750"/>
            <a:ext cx="3571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BMU Manager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786131-3F89-444F-8B9F-673914DC3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00400"/>
            <a:ext cx="4210050" cy="-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75569"/>
                </a:solidFill>
              </a:defRPr>
            </a:pPr>
            <a:r>
              <a:rPr sz="1350">
                <a:solidFill>
                  <a:srgbClr val="475569"/>
                </a:solidFill>
              </a:rPr>
              <a:t>Manage BMU setup, members, certificates, local records, patrols, and reports.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92670D-4782-49A0-AC5D-CAFC3196B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362200"/>
            <a:ext cx="4667250" cy="80010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971927-AD76-4F35-8182-8B5D1EC1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90800"/>
            <a:ext cx="4381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0EA5E9"/>
          </a:solidFill>
          <a:ln xmlns:a="http://schemas.openxmlformats.org/drawingml/2006/main" w="0">
            <a:solidFill>
              <a:srgbClr val="0EA5E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2C20-00AF-4478-95C5-AE027F6D3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571750"/>
            <a:ext cx="3571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KeFS / County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28A282-5169-4010-9FF5-DA074FACA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00400"/>
            <a:ext cx="4210050" cy="-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75569"/>
                </a:solidFill>
              </a:defRPr>
            </a:pPr>
            <a:r>
              <a:rPr sz="1350">
                <a:solidFill>
                  <a:srgbClr val="475569"/>
                </a:solidFill>
              </a:rPr>
              <a:t>Review fisheries records, compliance information, and county or national oversight views.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6EE670-F03A-4A5D-806A-3CF1DCB63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09950"/>
            <a:ext cx="4667250" cy="80010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AD6602-3076-41C4-A871-3B9DE897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38550"/>
            <a:ext cx="4381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892A8E-DD6E-450E-BE55-B5C29040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619500"/>
            <a:ext cx="3571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Ranger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64BAB5-9418-4158-A8CA-1F95C7234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48150"/>
            <a:ext cx="4210050" cy="-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75569"/>
                </a:solidFill>
              </a:defRPr>
            </a:pPr>
            <a:r>
              <a:rPr sz="1350">
                <a:solidFill>
                  <a:srgbClr val="475569"/>
                </a:solidFill>
              </a:rPr>
              <a:t>Record patrol activity, compliance observations, and field follow-up.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E2DFFB-EED4-4BCA-A248-1FE82F71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409950"/>
            <a:ext cx="4667250" cy="80010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95E6CB-C478-4F55-91AD-75B0F9959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638550"/>
            <a:ext cx="4381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0EA5E9"/>
          </a:solidFill>
          <a:ln xmlns:a="http://schemas.openxmlformats.org/drawingml/2006/main" w="0">
            <a:solidFill>
              <a:srgbClr val="0EA5E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BC61D7-F315-4806-95E1-D539DBACB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619500"/>
            <a:ext cx="3571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NGO / Donor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F1CF47-68CD-48B6-A524-A9714BE9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248150"/>
            <a:ext cx="4210050" cy="-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75569"/>
                </a:solidFill>
              </a:defRPr>
            </a:pPr>
            <a:r>
              <a:rPr sz="1350">
                <a:solidFill>
                  <a:srgbClr val="475569"/>
                </a:solidFill>
              </a:rPr>
              <a:t>Track projects, outcomes, evidence, and impact without editing operational data.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990EC0-2D52-4091-B593-2E791D937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57700"/>
            <a:ext cx="10287000" cy="80010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F8F02E-C103-442D-9C32-04A232346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86300"/>
            <a:ext cx="4381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4AB757-8EE6-4141-807B-F0484452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67250"/>
            <a:ext cx="9191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Member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3710F1-82F8-485B-BADF-B78F17F68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295900"/>
            <a:ext cx="9829800" cy="-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75569"/>
                </a:solidFill>
              </a:defRPr>
            </a:pPr>
            <a:r>
              <a:rPr sz="1350">
                <a:solidFill>
                  <a:srgbClr val="475569"/>
                </a:solidFill>
              </a:rPr>
              <a:t>View personal membership profile, documents, QR identity, and receipts where enabled.</a:t>
            </a:r>
          </a:p>
        </p:txBody>
      </p:sp>
    </p:spTree>
    <p:extLst>
      <p:ext uri="{BB962C8B-B14F-4D97-AF65-F5344CB8AC3E}">
        <p14:creationId xmlns:p14="http://schemas.microsoft.com/office/powerpoint/2010/main" val="21916030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FFC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E9B2A6-2D9D-4D63-A68B-36BE83D1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91B2"/>
                </a:solidFill>
              </a:defRPr>
            </a:pPr>
            <a:r>
              <a:rPr sz="1125" b="1">
                <a:solidFill>
                  <a:srgbClr val="0891B2"/>
                </a:solidFill>
              </a:rPr>
              <a:t>COMPLIANCE ADD-ON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7AAB7A-51C8-43B5-9161-3ECF4392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8382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20617"/>
                </a:solidFill>
              </a:defRPr>
            </a:pPr>
            <a:r>
              <a:rPr sz="3000" b="1">
                <a:solidFill>
                  <a:srgbClr val="020617"/>
                </a:solidFill>
              </a:rPr>
              <a:t>Official patrol forms become structured records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D9C194-2990-4B79-9074-738A06AC0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781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75569"/>
                </a:solidFill>
              </a:defRPr>
            </a:pPr>
            <a:r>
              <a:rPr sz="1500">
                <a:solidFill>
                  <a:srgbClr val="475569"/>
                </a:solidFill>
              </a:rPr>
              <a:t>The compliance module is being digitized from client-provided templates while keeping officer-side and BMU-side workflows separate.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325257-6957-46C4-95C5-AB0971D14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47625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2B30F6-028C-45F0-B443-FE8BEBD6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09850"/>
            <a:ext cx="4381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06B6D4"/>
          </a:solidFill>
          <a:ln xmlns:a="http://schemas.openxmlformats.org/drawingml/2006/main" w="0">
            <a:solidFill>
              <a:srgbClr val="06B6D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C5F3E9-E945-4D4F-9860-650BEED94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590800"/>
            <a:ext cx="3667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Officer-side FORM 1A patrol reporting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38E9E4-6C2D-4161-B2A9-9CD5EEA8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19450"/>
            <a:ext cx="4305300" cy="-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75569"/>
                </a:solidFill>
              </a:defRPr>
            </a:pPr>
            <a:r>
              <a:rPr sz="1350">
                <a:solidFill>
                  <a:srgbClr val="475569"/>
                </a:solidFill>
              </a:rPr>
              <a:t>Structured Supabase record with role-aware access and review-ready data.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949054-3DB2-4A95-BF84-F9FD3DB5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81250"/>
            <a:ext cx="47625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46D506-11A6-44E6-92D9-9F4F3EDE9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09850"/>
            <a:ext cx="4381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E28E38-11F6-4F20-9507-7758D376A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90800"/>
            <a:ext cx="3667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BMU Patrol Reporting Form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DB4834-21B0-4AB8-B3A0-ABBF62C07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19450"/>
            <a:ext cx="4305300" cy="-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75569"/>
                </a:solidFill>
              </a:defRPr>
            </a:pPr>
            <a:r>
              <a:rPr sz="1350">
                <a:solidFill>
                  <a:srgbClr val="475569"/>
                </a:solidFill>
              </a:rPr>
              <a:t>Structured Supabase record with role-aware access and review-ready data.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85163C-3F23-430A-8949-4C0FBE8DA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05200"/>
            <a:ext cx="47625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972862-3B3B-489A-AD77-1C3C10FEF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33800"/>
            <a:ext cx="4381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06B6D4"/>
          </a:solidFill>
          <a:ln xmlns:a="http://schemas.openxmlformats.org/drawingml/2006/main" w="0">
            <a:solidFill>
              <a:srgbClr val="06B6D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BA63AB-0F7E-40BF-8ACE-E630F18ED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14750"/>
            <a:ext cx="3667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Patrol Data Capture Form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08BE79-EC92-468E-8D0D-3FDAA6185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43400"/>
            <a:ext cx="4305300" cy="-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75569"/>
                </a:solidFill>
              </a:defRPr>
            </a:pPr>
            <a:r>
              <a:rPr sz="1350">
                <a:solidFill>
                  <a:srgbClr val="475569"/>
                </a:solidFill>
              </a:rPr>
              <a:t>Structured Supabase record with role-aware access and review-ready data.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BA81E1-53DD-446A-A025-C60486C36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05200"/>
            <a:ext cx="47625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16D3F6-E614-46BE-AB16-1F74F3DA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33800"/>
            <a:ext cx="4381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112961-46C2-4FBA-A30E-76CA0D32E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14750"/>
            <a:ext cx="3667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Seizure Form planned next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4028D3-1278-42EC-A80A-E951AEBD9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43400"/>
            <a:ext cx="4305300" cy="-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75569"/>
                </a:solidFill>
              </a:defRPr>
            </a:pPr>
            <a:r>
              <a:rPr sz="1350">
                <a:solidFill>
                  <a:srgbClr val="475569"/>
                </a:solidFill>
              </a:rPr>
              <a:t>Structured Supabase record with role-aware access and review-ready data.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F7CF18-A644-494D-95DB-7348E8B81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29150"/>
            <a:ext cx="102870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578A63-219F-469B-A0EC-011E8155A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57750"/>
            <a:ext cx="4381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06B6D4"/>
          </a:solidFill>
          <a:ln xmlns:a="http://schemas.openxmlformats.org/drawingml/2006/main" w="0">
            <a:solidFill>
              <a:srgbClr val="06B6D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ED21EC-1879-4340-B3FD-4282DD7CE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38700"/>
            <a:ext cx="9191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Attachments, audit logs, and export views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B0B2D2-F329-4540-888B-26F43800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67350"/>
            <a:ext cx="9829800" cy="-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75569"/>
                </a:solidFill>
              </a:defRPr>
            </a:pPr>
            <a:r>
              <a:rPr sz="1350">
                <a:solidFill>
                  <a:srgbClr val="475569"/>
                </a:solidFill>
              </a:rPr>
              <a:t>Structured Supabase record with role-aware access and review-ready data.</a:t>
            </a:r>
          </a:p>
        </p:txBody>
      </p:sp>
    </p:spTree>
    <p:extLst>
      <p:ext uri="{BB962C8B-B14F-4D97-AF65-F5344CB8AC3E}">
        <p14:creationId xmlns:p14="http://schemas.microsoft.com/office/powerpoint/2010/main" val="18671115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9fab5dcaa44970"/>
          <a:srcRect xmlns:a="http://schemas.openxmlformats.org/drawingml/2006/main" l="28504" t="0" r="2850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53250" y="0"/>
            <a:ext cx="52387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025DE6-5B33-4074-A860-04EBFB160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0"/>
            <a:ext cx="523875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A60C37-3357-44DB-A6D7-1238F5577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91B2"/>
                </a:solidFill>
              </a:defRPr>
            </a:pPr>
            <a:r>
              <a:rPr sz="1125" b="1">
                <a:solidFill>
                  <a:srgbClr val="0891B2"/>
                </a:solidFill>
              </a:rPr>
              <a:t>TRUST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474A00-9467-4B03-B819-80EBF3702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8382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20617"/>
                </a:solidFill>
              </a:defRPr>
            </a:pPr>
            <a:r>
              <a:rPr sz="3000" b="1">
                <a:solidFill>
                  <a:srgbClr val="020617"/>
                </a:solidFill>
              </a:rPr>
              <a:t>Data stays owned by the organization that creates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1F3F0C-0BBA-45EF-A9DE-0CD7D551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781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75569"/>
                </a:solidFill>
              </a:defRPr>
            </a:pPr>
            <a:r>
              <a:rPr sz="1500">
                <a:solidFill>
                  <a:srgbClr val="475569"/>
                </a:solidFill>
              </a:rPr>
              <a:t>BLUE provides the software platform. BMUs, counties, departments, and NGOs retain control of their own operational data.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4C1B8C-91F1-468A-925C-8AAECB16B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44767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5F3F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5985"/>
                </a:solidFill>
              </a:defRPr>
            </a:pPr>
            <a:r>
              <a:rPr sz="1200" b="1">
                <a:solidFill>
                  <a:srgbClr val="075985"/>
                </a:solidFill>
              </a:rPr>
              <a:t>Role-based permissions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BD70AA-46CD-416A-BD37-B7029F66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44767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A5F3F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5985"/>
                </a:solidFill>
              </a:defRPr>
            </a:pPr>
            <a:r>
              <a:rPr sz="1200" b="1">
                <a:solidFill>
                  <a:srgbClr val="075985"/>
                </a:solidFill>
              </a:rPr>
              <a:t>Supabase Auth and RLS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31F1C3-DF18-44F1-972B-B3A011D5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44767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5F3F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5985"/>
                </a:solidFill>
              </a:defRPr>
            </a:pPr>
            <a:r>
              <a:rPr sz="1200" b="1">
                <a:solidFill>
                  <a:srgbClr val="075985"/>
                </a:solidFill>
              </a:rPr>
              <a:t>Private document storage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A4C252-BE4F-4B16-A795-1381D95B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81500"/>
            <a:ext cx="44767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A5F3F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5985"/>
                </a:solidFill>
              </a:defRPr>
            </a:pPr>
            <a:r>
              <a:rPr sz="1200" b="1">
                <a:solidFill>
                  <a:srgbClr val="075985"/>
                </a:solidFill>
              </a:rPr>
              <a:t>Audit logs for key 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E40F10-40E3-475B-A506-0A7E83E5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44767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5F3F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5985"/>
                </a:solidFill>
              </a:defRPr>
            </a:pPr>
            <a:r>
              <a:rPr sz="1200" b="1">
                <a:solidFill>
                  <a:srgbClr val="075985"/>
                </a:solidFill>
              </a:rPr>
              <a:t>Client-owned infrastructure where possible</a:t>
            </a:r>
          </a:p>
        </p:txBody>
      </p:sp>
    </p:spTree>
    <p:extLst>
      <p:ext uri="{BB962C8B-B14F-4D97-AF65-F5344CB8AC3E}">
        <p14:creationId xmlns:p14="http://schemas.microsoft.com/office/powerpoint/2010/main" val="11899848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F672EB-AD29-4FC9-A1E4-871099696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91B2"/>
                </a:solidFill>
              </a:defRPr>
            </a:pPr>
            <a:r>
              <a:rPr sz="1125" b="1">
                <a:solidFill>
                  <a:srgbClr val="0891B2"/>
                </a:solidFill>
              </a:rPr>
              <a:t>IMPLEMENTATION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FB038A-DAFC-419C-ADC4-CFD58B0B1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8382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20617"/>
                </a:solidFill>
              </a:defRPr>
            </a:pPr>
            <a:r>
              <a:rPr sz="3000" b="1">
                <a:solidFill>
                  <a:srgbClr val="020617"/>
                </a:solidFill>
              </a:rPr>
              <a:t>The build is phased to protect quality and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8FC567-B086-41EA-901D-2386DA450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781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75569"/>
                </a:solidFill>
              </a:defRPr>
            </a:pPr>
            <a:r>
              <a:rPr sz="1500">
                <a:solidFill>
                  <a:srgbClr val="475569"/>
                </a:solidFill>
              </a:rPr>
              <a:t>Each phase completes a working layer before moving to the next set of operational modules.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F57AC2-9C45-4D1F-A9DB-83E937070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866900" cy="24003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BAE6F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1A2A3A-F294-4578-BC08-E0763E4C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891B2"/>
                </a:solidFill>
              </a:defRPr>
            </a:pPr>
            <a:r>
              <a:rPr sz="2850" b="1">
                <a:solidFill>
                  <a:srgbClr val="0891B2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1E7AA0-9EEF-46A6-B5DF-E4C50EDB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F172A"/>
                </a:solidFill>
              </a:defRPr>
            </a:pPr>
            <a:r>
              <a:rPr sz="1725" b="1">
                <a:solidFill>
                  <a:srgbClr val="0F172A"/>
                </a:solidFill>
              </a:rPr>
              <a:t>Foundation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1523F4-6D9F-4468-B3DB-44F56FEA9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1428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75569"/>
                </a:solidFill>
              </a:defRPr>
            </a:pPr>
            <a:r>
              <a:rPr sz="1200">
                <a:solidFill>
                  <a:srgbClr val="475569"/>
                </a:solidFill>
              </a:rPr>
              <a:t>Auth, request access, approval, role routing, onboarding gate.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12680C-A700-4EA3-A465-2B6CD75E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705100"/>
            <a:ext cx="1866900" cy="24003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BAE6F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AF8E32-B604-416B-8D5E-3A620773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8956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891B2"/>
                </a:solidFill>
              </a:defRPr>
            </a:pPr>
            <a:r>
              <a:rPr sz="2850" b="1">
                <a:solidFill>
                  <a:srgbClr val="0891B2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84FA5D-3081-44FE-812A-ECA0E0FF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5623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F172A"/>
                </a:solidFill>
              </a:defRPr>
            </a:pPr>
            <a:r>
              <a:rPr sz="1725" b="1">
                <a:solidFill>
                  <a:srgbClr val="0F172A"/>
                </a:solidFill>
              </a:rPr>
              <a:t>BMU setup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2C44FA-9109-440A-BF33-16531F1EB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000500"/>
            <a:ext cx="1428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75569"/>
                </a:solidFill>
              </a:defRPr>
            </a:pPr>
            <a:r>
              <a:rPr sz="1200">
                <a:solidFill>
                  <a:srgbClr val="475569"/>
                </a:solidFill>
              </a:rPr>
              <a:t>BMU profile, certificate upload, verification, location hierarchy.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37996B-5D12-436B-916A-4B726EA5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705100"/>
            <a:ext cx="1866900" cy="24003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AE6F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47849C-8D83-4123-8170-8EC67A8F6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8956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891B2"/>
                </a:solidFill>
              </a:defRPr>
            </a:pPr>
            <a:r>
              <a:rPr sz="2850" b="1">
                <a:solidFill>
                  <a:srgbClr val="0891B2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D60AEE-0931-4CA8-957E-5C8D49BE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5623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F172A"/>
                </a:solidFill>
              </a:defRPr>
            </a:pPr>
            <a:r>
              <a:rPr sz="1725" b="1">
                <a:solidFill>
                  <a:srgbClr val="0F172A"/>
                </a:solidFill>
              </a:rPr>
              <a:t>Operations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B7D71C-E2C9-4442-9A1D-CB42F7E43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000500"/>
            <a:ext cx="1428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75569"/>
                </a:solidFill>
              </a:defRPr>
            </a:pPr>
            <a:r>
              <a:rPr sz="1200">
                <a:solidFill>
                  <a:srgbClr val="475569"/>
                </a:solidFill>
              </a:rPr>
              <a:t>Members, vessels, documents, meetings, income, expenditure, receipts.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071BBF-1E81-4AE5-9C35-D7BE72199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705100"/>
            <a:ext cx="1866900" cy="24003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AE6F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DD1854-22AF-4D3C-8B9F-B707F40E3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8956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891B2"/>
                </a:solidFill>
              </a:defRPr>
            </a:pPr>
            <a:r>
              <a:rPr sz="2850" b="1">
                <a:solidFill>
                  <a:srgbClr val="0891B2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49C7D3-43DD-42F9-9B14-A33052854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5623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F172A"/>
                </a:solidFill>
              </a:defRPr>
            </a:pPr>
            <a:r>
              <a:rPr sz="1725" b="1">
                <a:solidFill>
                  <a:srgbClr val="0F172A"/>
                </a:solidFill>
              </a:rPr>
              <a:t>Compliance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04E987-5797-4907-B747-5626EBC4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000500"/>
            <a:ext cx="1428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75569"/>
                </a:solidFill>
              </a:defRPr>
            </a:pPr>
            <a:r>
              <a:rPr sz="1200">
                <a:solidFill>
                  <a:srgbClr val="475569"/>
                </a:solidFill>
              </a:rPr>
              <a:t>FORM 1A, BMU patrol, data capture, seizure forms, attachments.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A7BA34-510C-4F9A-801A-215B1627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05100"/>
            <a:ext cx="1866900" cy="24003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AE6F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412DE0-E70D-43F6-B5C8-B3696E7D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956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891B2"/>
                </a:solidFill>
              </a:defRPr>
            </a:pPr>
            <a:r>
              <a:rPr sz="2850" b="1">
                <a:solidFill>
                  <a:srgbClr val="0891B2"/>
                </a:solidFill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E74FDE-7178-4714-B466-50F91BE0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5623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F172A"/>
                </a:solidFill>
              </a:defRPr>
            </a:pPr>
            <a:r>
              <a:rPr sz="1725" b="1">
                <a:solidFill>
                  <a:srgbClr val="0F172A"/>
                </a:solidFill>
              </a:rPr>
              <a:t>Readiness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8B5B9F-5BB8-4627-ACD4-C6D7619F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00500"/>
            <a:ext cx="1428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75569"/>
                </a:solidFill>
              </a:defRPr>
            </a:pPr>
            <a:r>
              <a:rPr sz="1200">
                <a:solidFill>
                  <a:srgbClr val="475569"/>
                </a:solidFill>
              </a:rPr>
              <a:t>Reports, policies, support material, QA, deployment handover.</a:t>
            </a:r>
          </a:p>
        </p:txBody>
      </p:sp>
    </p:spTree>
    <p:extLst>
      <p:ext uri="{BB962C8B-B14F-4D97-AF65-F5344CB8AC3E}">
        <p14:creationId xmlns:p14="http://schemas.microsoft.com/office/powerpoint/2010/main" val="18803442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315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087335c3d8455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998BA2-F4E6-4B0A-8845-69CFBE56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486ECF-6596-41E8-9D1C-6B219684E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953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67E8F9"/>
          </a:solidFill>
          <a:ln xmlns:a="http://schemas.openxmlformats.org/drawingml/2006/main" w="0">
            <a:solidFill>
              <a:srgbClr val="67E8F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5E9A3B-E241-419D-A2F0-0409F899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20617"/>
                </a:solidFill>
              </a:defRPr>
            </a:pPr>
            <a:r>
              <a:rPr sz="1950" b="1">
                <a:solidFill>
                  <a:srgbClr val="020617"/>
                </a:solidFill>
              </a:rPr>
              <a:t>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BE5D7F-0F23-4AFC-8AF2-095701D17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876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BLUE is ready to demonstrate as a serious platform, not just a website.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7A912C-8D82-4010-A97A-F99FA00CD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723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DFFAFE"/>
                </a:solidFill>
              </a:defRPr>
            </a:pPr>
            <a:r>
              <a:rPr sz="1800">
                <a:solidFill>
                  <a:srgbClr val="DFFAFE"/>
                </a:solidFill>
              </a:rPr>
              <a:t>Next: approve access for reviewers, apply the latest Supabase migrations, and review the compliance form structures inside the dashboard.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F252B2-303C-407B-BD4F-E223C0C4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05375"/>
            <a:ext cx="35242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5F3F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5985"/>
                </a:solidFill>
              </a:defRPr>
            </a:pPr>
            <a:r>
              <a:rPr sz="1200" b="1">
                <a:solidFill>
                  <a:srgbClr val="075985"/>
                </a:solidFill>
              </a:rPr>
              <a:t>blue-black-gamma.vercel.app</a:t>
            </a:r>
          </a:p>
        </p:txBody>
      </p:sp>
    </p:spTree>
    <p:extLst>
      <p:ext uri="{BB962C8B-B14F-4D97-AF65-F5344CB8AC3E}">
        <p14:creationId xmlns:p14="http://schemas.microsoft.com/office/powerpoint/2010/main" val="18122190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2026-07-15T07:45:32.9020000Z</dcterms:created>
  <dcterms:modified xsi:type="dcterms:W3CDTF">2026-07-15T07:45:32.9020000Z</dcterms:modified>
</coreProperties>
</file>